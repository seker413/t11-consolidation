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0000" y="900000"/>
            <a:ext cx="1080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0"/>
            <a:ext cx="79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900" b="1">
                <a:solidFill>
                  <a:srgbClr val="F8FAFC"/>
                </a:solidFill>
                <a:latin typeface="Poppins"/>
              </a:defRPr>
            </a:pPr>
            <a:r>
              <a:t>基于AI规则引擎的</a:t>
            </a:r>
            <a:br/>
            <a:r>
              <a:t>内部存货交易未实现利润</a:t>
            </a:r>
            <a:br/>
            <a:r>
              <a:t>自动抵消系统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528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Noto Sans SC"/>
              </a:defRPr>
            </a:pPr>
            <a:r>
              <a:t>DRP系统 T11 合并报表与一键出表 — 子模块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4140000"/>
            <a:ext cx="79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8FAFC"/>
                </a:solidFill>
                <a:latin typeface="Noto Sans SC"/>
              </a:defRPr>
            </a:pPr>
            <a:r>
              <a:t>中国社会科学院大学 · 2025级会计专硕二班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小组成员：尚浩然、李金阳 | 指导老师：张金昌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50" b="1">
                <a:solidFill>
                  <a:srgbClr val="0F172A"/>
                </a:solidFill>
                <a:latin typeface="Poppins"/>
              </a:defRPr>
            </a:pPr>
            <a:r>
              <a:t>项目背景与业务痛点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612000"/>
            <a:ext cx="1080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792000"/>
            <a:ext cx="39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Poppins"/>
              </a:defRPr>
            </a:pPr>
            <a:r>
              <a:t>政策与业务双重驱动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39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6B6D4"/>
                </a:solidFill>
                <a:latin typeface="Noto Sans SC"/>
              </a:defRPr>
            </a:pPr>
            <a:r>
              <a:t>• 国资委1号文：应用AI大模型、OCR技术实现管理智能化。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06B6D4"/>
                </a:solidFill>
                <a:latin typeface="Noto Sans SC"/>
              </a:defRPr>
            </a:pPr>
            <a:r>
              <a:t>• 国资委2号文：数据自动采集、模型自动分析、风险自动预警。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06B6D4"/>
                </a:solidFill>
                <a:latin typeface="Noto Sans SC"/>
              </a:defRPr>
            </a:pPr>
            <a:r>
              <a:t>• CAS33：合并报表必须抵消内部交易未实现利润。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34155"/>
                </a:solidFill>
                <a:latin typeface="Noto Sans SC"/>
              </a:defRPr>
            </a:pPr>
            <a:r>
              <a:t>• 集团型企业涉及数十家法人主体，月度内部交易数百笔。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34155"/>
                </a:solidFill>
                <a:latin typeface="Noto Sans SC"/>
              </a:defRPr>
            </a:pPr>
            <a:r>
              <a:t>• 交易类型复杂（顺流/逆流/平流），抵消逻辑各不相同。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792000"/>
            <a:ext cx="39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Poppins"/>
              </a:defRPr>
            </a:pPr>
            <a:r>
              <a:t>传统手工抵消的四大痛点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4680000" y="1080000"/>
            <a:ext cx="1512000" cy="100799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80000" y="1080000"/>
            <a:ext cx="15120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00" y="1188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① 工作量巨大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0000" y="1440000"/>
            <a:ext cx="1152000" cy="53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数十家主体、数百笔交易，</a:t>
            </a:r>
            <a:br/>
            <a:r>
              <a:t>Excel逐笔勾对耗时漫长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000" y="1080000"/>
            <a:ext cx="1512000" cy="100799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000" y="1080000"/>
            <a:ext cx="1512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0" y="1188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② 极易出错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0" y="1440000"/>
            <a:ext cx="1152000" cy="53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顺流、逆流、平流抵消比例</a:t>
            </a:r>
            <a:br/>
            <a:r>
              <a:t>和计算逻辑各不相同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0000" y="2232000"/>
            <a:ext cx="1512000" cy="100799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80000" y="2232000"/>
            <a:ext cx="1512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0000" y="2340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③ 审计追溯困难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0000" y="2592000"/>
            <a:ext cx="1152000" cy="53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年结审计时无法完整还原</a:t>
            </a:r>
            <a:br/>
            <a:r>
              <a:t>每笔抵消的底层计算过程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000" y="2232000"/>
            <a:ext cx="1512000" cy="100799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0000" y="2232000"/>
            <a:ext cx="15120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0000" y="2340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④ 监管要求脱节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0000" y="2592000"/>
            <a:ext cx="1152000" cy="53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纯手工无法满足国资委</a:t>
            </a:r>
            <a:br/>
            <a:r>
              <a:t>"穿透式监管"要求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50" b="1">
                <a:solidFill>
                  <a:srgbClr val="0F172A"/>
                </a:solidFill>
                <a:latin typeface="Poppins"/>
              </a:defRPr>
            </a:pPr>
            <a:r>
              <a:t>解决方案：AI规则引擎与自动化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612000"/>
            <a:ext cx="1080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792000"/>
            <a:ext cx="39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Poppins"/>
              </a:defRPr>
            </a:pPr>
            <a:r>
              <a:t>核心处理流程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080000"/>
            <a:ext cx="216000" cy="216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000" y="10620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Noto Sans SC"/>
              </a:defRPr>
            </a:pPr>
            <a:r>
              <a:t>① 上传Excel三表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404000"/>
            <a:ext cx="216000" cy="216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000" y="13860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Noto Sans SC"/>
              </a:defRPr>
            </a:pPr>
            <a:r>
              <a:t>② 智能识别交易类型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728000"/>
            <a:ext cx="216000" cy="216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000" y="17100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Noto Sans SC"/>
              </a:defRPr>
            </a:pPr>
            <a:r>
              <a:t>③ 自动计算未实现利润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2052000"/>
            <a:ext cx="216000" cy="216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000" y="20340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Noto Sans SC"/>
              </a:defRPr>
            </a:pPr>
            <a:r>
              <a:t>④ JSON规则引擎生成分录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2376000"/>
            <a:ext cx="216000" cy="216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000" y="23580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Noto Sans SC"/>
              </a:defRPr>
            </a:pPr>
            <a:r>
              <a:t>⑤ 试算平衡借贷验证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2700000"/>
            <a:ext cx="216000" cy="216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000" y="26820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Noto Sans SC"/>
              </a:defRPr>
            </a:pPr>
            <a:r>
              <a:t>⑥ 导出报告Excel/PDF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0000" y="792000"/>
            <a:ext cx="39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Poppins"/>
              </a:defRPr>
            </a:pPr>
            <a:r>
              <a:t>全场景业务覆盖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0000" y="1080000"/>
            <a:ext cx="3780000" cy="68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80000" y="1080000"/>
            <a:ext cx="3780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0000" y="1188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顺流交易（母→子）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0000" y="1440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未实现利润全部归母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0000" y="1872000"/>
            <a:ext cx="3780000" cy="68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80000" y="1872000"/>
            <a:ext cx="3780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0000" y="1980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逆流交易（子→母）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0" y="2232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少数股东按持股比例分摊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80000" y="2664000"/>
            <a:ext cx="3780000" cy="68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80000" y="2664000"/>
            <a:ext cx="3780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0000" y="2772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平流交易（子↔子）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0000" y="3024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按销售方少数股东比例分摊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0000" y="3456000"/>
            <a:ext cx="3780000" cy="68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80000" y="3456000"/>
            <a:ext cx="3780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0000" y="3564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递延所得税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0000" y="3816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自动计算（支持税率可调）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50" b="1">
                <a:solidFill>
                  <a:srgbClr val="0F172A"/>
                </a:solidFill>
                <a:latin typeface="Poppins"/>
              </a:defRPr>
            </a:pPr>
            <a:r>
              <a:t>系统架构设计 (V2.0 模块化)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612000"/>
            <a:ext cx="1080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827999"/>
            <a:ext cx="7740000" cy="72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0000" y="827999"/>
            <a:ext cx="54000" cy="72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899999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Poppins"/>
              </a:defRPr>
            </a:pPr>
            <a:r>
              <a:t>表示层  Streamlit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1187999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文件上传 | 参数配置 | 可视化仪表盘 | 报表导出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727999"/>
            <a:ext cx="7740000" cy="72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1727999"/>
            <a:ext cx="54000" cy="7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1799999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Poppins"/>
              </a:defRPr>
            </a:pPr>
            <a:r>
              <a:t>计算引擎 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2087999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数据校验 → 类型识别 → 利润计算 → 分录生成 → 哈希存证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2627999"/>
            <a:ext cx="7740000" cy="72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0000" y="2627999"/>
            <a:ext cx="54000" cy="72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2699999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Poppins"/>
              </a:defRPr>
            </a:pPr>
            <a:r>
              <a:t>规则配置  JSON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2987999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三套抵消模板（DOWN/UP/FLAT）· 安全公式求值 · 声明式规则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3527999"/>
            <a:ext cx="7740000" cy="72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0000" y="3527999"/>
            <a:ext cx="54000" cy="7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3599999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Poppins"/>
              </a:defRPr>
            </a:pPr>
            <a:r>
              <a:t>数据层  SQLite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" y="3887999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股权配置表 | 交易明细表 | 抵消分录结果表 | 计算日志(calc_log)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4500000"/>
            <a:ext cx="77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34155"/>
                </a:solidFill>
                <a:latin typeface="Noto Sans SC"/>
              </a:defRPr>
            </a:pPr>
            <a:r>
              <a:t>技术栈：Python 3.11+ | Streamlit | pandas | openpyxl | SQLite | Matplotlib | ReportLab | Git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50" b="1">
                <a:solidFill>
                  <a:srgbClr val="0F172A"/>
                </a:solidFill>
                <a:latin typeface="Poppins"/>
              </a:defRPr>
            </a:pPr>
            <a:r>
              <a:t>核心算法：未实现利润计算机制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612000"/>
            <a:ext cx="1080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792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Poppins"/>
              </a:defRPr>
            </a:pPr>
            <a:r>
              <a:t>核心公式推导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080000"/>
            <a:ext cx="7740000" cy="54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152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Noto Sans SC"/>
              </a:defRPr>
            </a:pPr>
            <a:r>
              <a:t>未实现利润 = 销售收入 × 毛利率 × 未对外出售比例</a:t>
            </a:r>
            <a:br/>
            <a:r>
              <a:t>毛利率 = (销售收入 − 销售成本) ÷ 销售收入    未售比例 = 期末结存数量 ÷ 内部购入总数量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1800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Poppins"/>
              </a:defRPr>
            </a:pPr>
            <a:r>
              <a:t>三种计算场景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2088000"/>
            <a:ext cx="2160000" cy="79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2088000"/>
            <a:ext cx="21600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2196000"/>
            <a:ext cx="187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Noto Sans SC"/>
              </a:defRPr>
            </a:pPr>
            <a:r>
              <a:t>全未售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2448000"/>
            <a:ext cx="18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Noto Sans SC"/>
              </a:defRPr>
            </a:pPr>
            <a:r>
              <a:t>结存 = 购入 → 全额抵消</a:t>
            </a:r>
            <a:br/>
            <a:r>
              <a:t>未实现利润 = 收入 − 成本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0000" y="2088000"/>
            <a:ext cx="2160000" cy="79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0000" y="2088000"/>
            <a:ext cx="2160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4000" y="2196000"/>
            <a:ext cx="187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Noto Sans SC"/>
              </a:defRPr>
            </a:pPr>
            <a:r>
              <a:t>部分售出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4000" y="2448000"/>
            <a:ext cx="18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Noto Sans SC"/>
              </a:defRPr>
            </a:pPr>
            <a:r>
              <a:t>仅按比例抵消结存未售</a:t>
            </a:r>
            <a:br/>
            <a:r>
              <a:t>部分的利润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80000" y="2088000"/>
            <a:ext cx="2160000" cy="79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80000" y="2088000"/>
            <a:ext cx="2160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24000" y="2196000"/>
            <a:ext cx="187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Noto Sans SC"/>
              </a:defRPr>
            </a:pPr>
            <a:r>
              <a:t>全售出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24000" y="2448000"/>
            <a:ext cx="18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Noto Sans SC"/>
              </a:defRPr>
            </a:pPr>
            <a:r>
              <a:t>结存 = 0 → 已实现</a:t>
            </a:r>
            <a:br/>
            <a:r>
              <a:t>无需抵消，自动跳过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3060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Poppins"/>
              </a:defRPr>
            </a:pPr>
            <a:r>
              <a:t>计算示例（顺流交易）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3311999"/>
            <a:ext cx="7740000" cy="100799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000" y="3384000"/>
            <a:ext cx="73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8FAFC"/>
                </a:solidFill>
                <a:latin typeface="Noto Sans SC"/>
              </a:defRPr>
            </a:pPr>
            <a:r>
              <a:t>母公司 P 向子公司 S 销售 A 产品 100 件 | 收入 ¥1,000,000 | 成本 ¥600,000 | S 期末对外售出 30 件，剩余 70 件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8FAFC"/>
                </a:solidFill>
                <a:latin typeface="Noto Sans SC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06B6D4"/>
                </a:solidFill>
                <a:latin typeface="Noto Sans SC"/>
              </a:defRPr>
            </a:pPr>
            <a:r>
              <a:t>① 毛利率 = (100万 − 60万) / 100万 = 40%    ② 未售比 = 70件 / 100件 = 70%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F8FAFC"/>
                </a:solidFill>
                <a:latin typeface="Noto Sans SC"/>
              </a:defRPr>
            </a:pPr>
            <a:r>
              <a:t>③ 未实现利润 = 100万 × 40% × 70% = ¥280,000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50" b="1">
                <a:solidFill>
                  <a:srgbClr val="0F172A"/>
                </a:solidFill>
                <a:latin typeface="Poppins"/>
              </a:defRPr>
            </a:pPr>
            <a:r>
              <a:t>分录自动生成：JSON规则引擎驱动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612000"/>
            <a:ext cx="1080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792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Noto Sans SC"/>
              </a:defRPr>
            </a:pPr>
            <a:r>
              <a:t>会计逻辑与程序代码解耦，规则即配置。核心引擎基于三套模板驱动：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260000"/>
            <a:ext cx="2448000" cy="198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260000"/>
            <a:ext cx="2448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4000" y="1368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Poppins"/>
              </a:defRPr>
            </a:pPr>
            <a:r>
              <a:t>DOWN  顺流交易（母→子）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1655999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Noto Sans SC"/>
              </a:defRPr>
            </a:pPr>
            <a:r>
              <a:t>借：营业收入    贷：营业成本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1835999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Noto Sans SC"/>
              </a:defRPr>
            </a:pPr>
            <a:r>
              <a:t>贷：存货（未实现利润）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" y="2123999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Noto Sans SC"/>
              </a:defRPr>
            </a:pPr>
            <a:r>
              <a:t>借：递延所得税资产    贷：所得税费用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2303999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Noto Sans SC"/>
              </a:defRPr>
            </a:pPr>
            <a:r>
              <a:t>不涉及少数股东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0" y="1260000"/>
            <a:ext cx="2448000" cy="198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0000" y="1260000"/>
            <a:ext cx="2448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4000" y="1368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Poppins"/>
              </a:defRPr>
            </a:pPr>
            <a:r>
              <a:t>UP  逆流交易（子→母）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4000" y="1655999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Noto Sans SC"/>
              </a:defRPr>
            </a:pPr>
            <a:r>
              <a:t>借：营业收入    贷：营业成本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4000" y="1835999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Noto Sans SC"/>
              </a:defRPr>
            </a:pPr>
            <a:r>
              <a:t>贷：存货（未实现利润）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4000" y="2123999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Noto Sans SC"/>
              </a:defRPr>
            </a:pPr>
            <a:r>
              <a:t>借：递延所得税资产    贷：所得税费用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4000" y="2591999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Noto Sans SC"/>
              </a:defRPr>
            </a:pPr>
            <a:r>
              <a:t>借：少数股东权益    贷：少数股东损益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4000" y="2771999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Noto Sans SC"/>
              </a:defRPr>
            </a:pPr>
            <a:r>
              <a:t>按(1-税率)×持股%分摊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0000" y="1260000"/>
            <a:ext cx="2448000" cy="198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0000" y="1260000"/>
            <a:ext cx="2448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4000" y="1368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Poppins"/>
              </a:defRPr>
            </a:pPr>
            <a:r>
              <a:t>FLAT  平流交易（子↔子）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4000" y="1655999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Noto Sans SC"/>
              </a:defRPr>
            </a:pPr>
            <a:r>
              <a:t>与逆流同理    按销售方少数股东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4000" y="1835999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Noto Sans SC"/>
              </a:defRPr>
            </a:pPr>
            <a:r>
              <a:t>持股比例分摊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3420000"/>
            <a:ext cx="77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Noto Sans SC"/>
              </a:defRPr>
            </a:pPr>
            <a:r>
              <a:t>设计理念：新增抵消场景（如固定资产内部交易）只需在 rules.json 中增加配置条目，核心引擎代码无需修改。</a:t>
            </a:r>
            <a:br/>
            <a:r>
              <a:t>所有分录基于安全命名空间求值，变量受限（revenue / cost / unrealized_profit / tax_rate / minority_ratio），防止代码注入。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50" b="1">
                <a:solidFill>
                  <a:srgbClr val="0F172A"/>
                </a:solidFill>
                <a:latin typeface="Poppins"/>
              </a:defRPr>
            </a:pPr>
            <a:r>
              <a:t>数据可视化与穿透式追溯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612000"/>
            <a:ext cx="1080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827999"/>
            <a:ext cx="7740000" cy="108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0000" y="827999"/>
            <a:ext cx="38100" cy="108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935999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动态分析仪表盘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223999"/>
            <a:ext cx="72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5项KPI（交易额/利润/抵消笔数/存货/净利影响）+ 抵消金额构成柱状图</a:t>
            </a:r>
            <a:br/>
            <a:r>
              <a:t>+ 交易类型分布图 + 抵消前后对比表。支持按交易类型标签过滤分录。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2087999"/>
            <a:ext cx="7740000" cy="108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2087999"/>
            <a:ext cx="38100" cy="108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2195999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自动试算平衡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483999"/>
            <a:ext cx="72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自动汇总借方合计与贷方合计，差额为 0 显示"✅ 借贷平衡"。</a:t>
            </a:r>
            <a:br/>
            <a:r>
              <a:t>支持人工干预：修改金额、删除分录行、追加入工分录（标注"✏️ 人工追加"）。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3347999"/>
            <a:ext cx="7740000" cy="108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0000" y="3347999"/>
            <a:ext cx="38100" cy="108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3455999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SHA-256 哈希链追溯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743999"/>
            <a:ext cx="72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每批次计算生成完整 JSON 日志。每笔分录哈希含上一笔哈希值，</a:t>
            </a:r>
            <a:br/>
            <a:r>
              <a:t>形成防篡改哈希链。预留 T33 区块链存证接口，赋能穿透式监管。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50" b="1">
                <a:solidFill>
                  <a:srgbClr val="0F172A"/>
                </a:solidFill>
                <a:latin typeface="Poppins"/>
              </a:defRPr>
            </a:pPr>
            <a:r>
              <a:t>系统对标：与现有DRP T11的对比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612000"/>
            <a:ext cx="1080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79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Noto Sans SC"/>
              </a:defRPr>
            </a:pPr>
            <a:r>
              <a:t>老师"集团合并报表平台"（19.group-consolidation）的"合并抵消处理"页面与本系统功能对比：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1260000" cy="324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000" y="1188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FAFC"/>
                </a:solidFill>
                <a:latin typeface="Noto Sans SC"/>
              </a:defRPr>
            </a:pPr>
            <a:r>
              <a:t>对比维度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0" y="1152000"/>
            <a:ext cx="2592000" cy="324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54000" y="1188000"/>
            <a:ext cx="24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FAFC"/>
                </a:solidFill>
                <a:latin typeface="Noto Sans SC"/>
              </a:defRPr>
            </a:pPr>
            <a:r>
              <a:t>现有 DRP T11 页面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2000" y="1152000"/>
            <a:ext cx="2700000" cy="324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6000" y="1188000"/>
            <a:ext cx="25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FAFC"/>
                </a:solidFill>
                <a:latin typeface="Noto Sans SC"/>
              </a:defRPr>
            </a:pPr>
            <a:r>
              <a:t>本系统 V2.0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92000" y="1152000"/>
            <a:ext cx="1440000" cy="324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46000" y="1188000"/>
            <a:ext cx="13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FAFC"/>
                </a:solidFill>
                <a:latin typeface="Noto Sans SC"/>
              </a:defRPr>
            </a:pPr>
            <a:r>
              <a:t>优势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1548000"/>
            <a:ext cx="1260000" cy="32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000" y="1584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抵消分录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1548000"/>
            <a:ext cx="2592000" cy="32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54000" y="1584000"/>
            <a:ext cx="24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空表单，需手动填写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2000" y="1548000"/>
            <a:ext cx="2700000" cy="32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6000" y="1584000"/>
            <a:ext cx="25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AI规则引擎自动生成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92000" y="1548000"/>
            <a:ext cx="1440000" cy="32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6000" y="1584000"/>
            <a:ext cx="13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0B981"/>
                </a:solidFill>
                <a:latin typeface="Noto Sans SC"/>
              </a:defRPr>
            </a:pPr>
            <a:r>
              <a:t>✅ 零人工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1944000"/>
            <a:ext cx="1260000" cy="32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000" y="1980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未实现利润计算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00000" y="1944000"/>
            <a:ext cx="2592000" cy="32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54000" y="1980000"/>
            <a:ext cx="24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无自动计算能力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2000" y="1944000"/>
            <a:ext cx="2700000" cy="32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46000" y="1980000"/>
            <a:ext cx="25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毛利率×未售比例自动计算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92000" y="1944000"/>
            <a:ext cx="1440000" cy="32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46000" y="1980000"/>
            <a:ext cx="13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0B981"/>
                </a:solidFill>
                <a:latin typeface="Noto Sans SC"/>
              </a:defRPr>
            </a:pPr>
            <a:r>
              <a:t>✅ 自动化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0000" y="2340000"/>
            <a:ext cx="1260000" cy="32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000" y="2376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递延所得税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00000" y="2340000"/>
            <a:ext cx="2592000" cy="32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54000" y="2376000"/>
            <a:ext cx="24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92000" y="2340000"/>
            <a:ext cx="2700000" cy="32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46000" y="2376000"/>
            <a:ext cx="25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自动计算（税率可调）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92000" y="2340000"/>
            <a:ext cx="1440000" cy="32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46000" y="2376000"/>
            <a:ext cx="13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0B981"/>
                </a:solidFill>
                <a:latin typeface="Noto Sans SC"/>
              </a:defRPr>
            </a:pPr>
            <a:r>
              <a:t>✅ 智能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0000" y="2736000"/>
            <a:ext cx="1260000" cy="32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000" y="2772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少数股东分摊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00000" y="2736000"/>
            <a:ext cx="2592000" cy="32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54000" y="2772000"/>
            <a:ext cx="24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92000" y="2736000"/>
            <a:ext cx="2700000" cy="32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46000" y="2772000"/>
            <a:ext cx="25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逆流/平流自动分摊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92000" y="2736000"/>
            <a:ext cx="1440000" cy="32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46000" y="2772000"/>
            <a:ext cx="13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0B981"/>
                </a:solidFill>
                <a:latin typeface="Noto Sans SC"/>
              </a:defRPr>
            </a:pPr>
            <a:r>
              <a:t>✅ 完整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0000" y="3132000"/>
            <a:ext cx="1260000" cy="32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000" y="3168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试算平衡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00000" y="3132000"/>
            <a:ext cx="2592000" cy="32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54000" y="3168000"/>
            <a:ext cx="24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有独立表单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92000" y="3132000"/>
            <a:ext cx="2700000" cy="32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46000" y="3168000"/>
            <a:ext cx="25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内嵌自动验证，差额即时展示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92000" y="3132000"/>
            <a:ext cx="1440000" cy="32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46000" y="3168000"/>
            <a:ext cx="13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0B981"/>
                </a:solidFill>
                <a:latin typeface="Noto Sans SC"/>
              </a:defRPr>
            </a:pPr>
            <a:r>
              <a:t>✅ 即时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0000" y="3528000"/>
            <a:ext cx="1260000" cy="32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000" y="3564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历史追溯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00000" y="3528000"/>
            <a:ext cx="2592000" cy="32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54000" y="3564000"/>
            <a:ext cx="24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基础处理历史记录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92000" y="3528000"/>
            <a:ext cx="2700000" cy="32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46000" y="3564000"/>
            <a:ext cx="25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批次分组 + 哈希链 + JSON日志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92000" y="3528000"/>
            <a:ext cx="1440000" cy="32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46000" y="3564000"/>
            <a:ext cx="13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0B981"/>
                </a:solidFill>
                <a:latin typeface="Noto Sans SC"/>
              </a:defRPr>
            </a:pPr>
            <a:r>
              <a:t>✅ 防篡改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0000" y="3924000"/>
            <a:ext cx="1260000" cy="32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000" y="3960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分录调整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00000" y="3924000"/>
            <a:ext cx="2592000" cy="32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54000" y="3960000"/>
            <a:ext cx="24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表单增删改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92000" y="3924000"/>
            <a:ext cx="2700000" cy="32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46000" y="3960000"/>
            <a:ext cx="25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金额修改/行删除/人工追加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92000" y="3924000"/>
            <a:ext cx="1440000" cy="32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46000" y="3960000"/>
            <a:ext cx="13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4155"/>
                </a:solidFill>
                <a:latin typeface="Noto Sans SC"/>
              </a:defRPr>
            </a:pPr>
            <a:r>
              <a:t>➡ 持平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50" b="1">
                <a:solidFill>
                  <a:srgbClr val="0F172A"/>
                </a:solidFill>
                <a:latin typeface="Poppins"/>
              </a:defRPr>
            </a:pPr>
            <a:r>
              <a:t>V2.0 交付范围与未来演进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612000"/>
            <a:ext cx="1080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792000"/>
            <a:ext cx="39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Poppins"/>
              </a:defRPr>
            </a:pPr>
            <a:r>
              <a:t>V2.0 交付物清单（本期）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Noto Sans SC"/>
              </a:defRPr>
            </a:pPr>
            <a:r>
              <a:t>✅ 系统源代码：Python 3.11+ 模块化架构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368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Noto Sans SC"/>
              </a:defRPr>
            </a:pPr>
            <a:r>
              <a:t>✅ 三表上传 + 自动计算 + 分录生成 + 试算平衡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656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Noto Sans SC"/>
              </a:defRPr>
            </a:pPr>
            <a:r>
              <a:t>✅ 可视化仪表盘 + 图表 + 抵消前后对比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944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Noto Sans SC"/>
              </a:defRPr>
            </a:pPr>
            <a:r>
              <a:t>✅ 分录筛选 + 手动调整 + 历史追溯 + 哈希链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232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Noto Sans SC"/>
              </a:defRPr>
            </a:pPr>
            <a:r>
              <a:t>✅ Excel/PDF 双格式导出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520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Noto Sans SC"/>
              </a:defRPr>
            </a:pPr>
            <a:r>
              <a:t>📘 系统需求说明书 V4.0（GB/T 9385）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2808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Noto Sans SC"/>
              </a:defRPr>
            </a:pPr>
            <a:r>
              <a:t>📗 用户操作手册 V2.0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3096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Noto Sans SC"/>
              </a:defRPr>
            </a:pPr>
            <a:r>
              <a:t>📊 介绍PPT V3.0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3384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Noto Sans SC"/>
              </a:defRPr>
            </a:pPr>
            <a:r>
              <a:t>📋 Excel模板 × 3 + 预设演示数据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0000" y="792000"/>
            <a:ext cx="39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Poppins"/>
              </a:defRPr>
            </a:pPr>
            <a:r>
              <a:t>V3.0+ 未来扩展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0" y="108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Noto Sans SC"/>
              </a:defRPr>
            </a:pPr>
            <a:r>
              <a:t>○  业务：加权平均法 / 跌价准备 / 连续编报滚调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0000" y="1368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Noto Sans SC"/>
              </a:defRPr>
            </a:pPr>
            <a:r>
              <a:t>○  架构：Java Spring Boot + Vue 3 重构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0000" y="165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Noto Sans SC"/>
              </a:defRPr>
            </a:pPr>
            <a:r>
              <a:t>○  信创：国产数据库（达梦/人大金仓）适配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0000" y="1944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Noto Sans SC"/>
              </a:defRPr>
            </a:pPr>
            <a:r>
              <a:t>○  安全：对接 T33 区块链存证上链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0000" y="2232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Noto Sans SC"/>
              </a:defRPr>
            </a:pPr>
            <a:r>
              <a:t>○  集成：RESTful API 对接 T10/T05/T21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000" y="252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Noto Sans SC"/>
              </a:defRPr>
            </a:pPr>
            <a:r>
              <a:t>○  合规：等保三级 + 多会计准则切换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0000" y="1080000"/>
            <a:ext cx="1080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260000"/>
            <a:ext cx="79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900" b="1">
                <a:solidFill>
                  <a:srgbClr val="F8FAFC"/>
                </a:solidFill>
                <a:latin typeface="Poppins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Noto Sans SC"/>
              </a:defRPr>
            </a:pPr>
            <a:r>
              <a:t>基于AI规则引擎的内部存货交易未实现利润自动抵消系统</a:t>
            </a:r>
            <a:br/>
            <a:r>
              <a:t>DRP平台 T11 合并报表与一键出表 — 子模块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600000"/>
            <a:ext cx="79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8FAFC"/>
                </a:solidFill>
                <a:latin typeface="Noto Sans SC"/>
              </a:defRPr>
            </a:pPr>
            <a:r>
              <a:t>中国社会科学院大学 · 2025级MPAcc二班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Noto Sans SC"/>
              </a:defRPr>
            </a:pPr>
            <a:r>
              <a:t>小组成员：尚浩然、李金阳 | 指导老师：张金昌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在线体验：t11-consolidation-ucassmpacc2025.streamlit.app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