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926080"/>
            <a:ext cx="12191695" cy="54864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914400"/>
            <a:ext cx="9601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Microsoft YaHei"/>
              </a:defRPr>
            </a:pPr>
            <a:r>
              <a:t>基于AI规则引擎的</a:t>
            </a:r>
            <a:br/>
            <a:r>
              <a:t>内部存货交易未实现利润自动抵消系统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3291840"/>
            <a:ext cx="9601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AABBCC"/>
                </a:solidFill>
                <a:latin typeface="Microsoft YaHei"/>
              </a:defRPr>
            </a:pPr>
            <a:r>
              <a:t>DRP系统 T11 合并报表与一键出表 — 子模块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438912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8899AA"/>
                </a:solidFill>
                <a:latin typeface="Microsoft YaHei"/>
              </a:defRPr>
            </a:pPr>
            <a:r>
              <a:t>中国社会科学院大学 · 2025级会计专硕二班 · 尚浩然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493776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778899"/>
                </a:solidFill>
                <a:latin typeface="Microsoft YaHei"/>
              </a:defRPr>
            </a:pPr>
            <a:r>
              <a:t>指导老师：张金昌  |  2026年06月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项目背景与业务痛点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CCDD"/>
                </a:solidFill>
                <a:latin typeface="Microsoft YaHei"/>
              </a:defRPr>
            </a:pPr>
            <a:r>
              <a:t>DRP平台 T11 合并报表  —  为什么需要这个系统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  <a:latin typeface="Microsoft YaHei"/>
              </a:defRPr>
            </a:pPr>
            <a:r>
              <a:t>📋  政策驱动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  <a:latin typeface="Microsoft YaHei"/>
              </a:defRPr>
            </a:pPr>
            <a:r>
              <a:t>  • 国资委1号文：应用AI大模型、OCR技术实现管理智能化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  <a:latin typeface="Microsoft YaHei"/>
              </a:defRPr>
            </a:pPr>
            <a:r>
              <a:t>  • 国资委2号文：数据自动采集、模型自动分析、风险自动预警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  <a:latin typeface="Microsoft YaHei"/>
              </a:defRPr>
            </a:pPr>
            <a:r>
              <a:t>  • CAS33：合并报表必须抵消内部交易未实现利润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  <a:latin typeface="Microsoft YaHei"/>
              </a:defRPr>
            </a:pP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  <a:latin typeface="Microsoft YaHei"/>
              </a:defRPr>
            </a:pPr>
            <a:r>
              <a:t>📊  业务规模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  <a:latin typeface="Microsoft YaHei"/>
              </a:defRPr>
            </a:pPr>
            <a:r>
              <a:t>  • 集团型企业数十家法人主体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  <a:latin typeface="Microsoft YaHei"/>
              </a:defRPr>
            </a:pPr>
            <a:r>
              <a:t>  • 月度内部交易数百笔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  <a:latin typeface="Microsoft YaHei"/>
              </a:defRPr>
            </a:pPr>
            <a:r>
              <a:t>  • 涉及顺流/逆流/平流三种交易类型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0" y="1371600"/>
            <a:ext cx="5303520" cy="4846320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675120" y="155448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3C6E"/>
                </a:solidFill>
                <a:latin typeface="Microsoft YaHei"/>
              </a:defRPr>
            </a:pPr>
            <a:r>
              <a:t>🔴 传统手工抵消的四大痛点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75120" y="2103120"/>
            <a:ext cx="47548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  <a:latin typeface="Microsoft YaHei"/>
              </a:defRPr>
            </a:pPr>
            <a:r>
              <a:t>① 工作量大</a:t>
            </a:r>
          </a:p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  <a:latin typeface="Microsoft YaHei"/>
              </a:defRPr>
            </a:pPr>
            <a:r>
              <a:t>   数十家主体、数百笔交易，Excel逐笔勾对耗时漫长</a:t>
            </a:r>
          </a:p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  <a:latin typeface="Microsoft YaHei"/>
              </a:defRPr>
            </a:pPr>
          </a:p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  <a:latin typeface="Microsoft YaHei"/>
              </a:defRPr>
            </a:pPr>
            <a:r>
              <a:t>② 易出错</a:t>
            </a:r>
          </a:p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  <a:latin typeface="Microsoft YaHei"/>
              </a:defRPr>
            </a:pPr>
            <a:r>
              <a:t>   顺流/逆流/平流抵消比例不同，人工计算容易遗漏</a:t>
            </a:r>
          </a:p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  <a:latin typeface="Microsoft YaHei"/>
              </a:defRPr>
            </a:pPr>
          </a:p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  <a:latin typeface="Microsoft YaHei"/>
              </a:defRPr>
            </a:pPr>
            <a:r>
              <a:t>③ 追溯困难</a:t>
            </a:r>
          </a:p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  <a:latin typeface="Microsoft YaHei"/>
              </a:defRPr>
            </a:pPr>
            <a:r>
              <a:t>   审计时无法完整还原每笔抵消的计算过程</a:t>
            </a:r>
          </a:p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  <a:latin typeface="Microsoft YaHei"/>
              </a:defRPr>
            </a:pPr>
          </a:p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  <a:latin typeface="Microsoft YaHei"/>
              </a:defRPr>
            </a:pPr>
            <a:r>
              <a:t>④ 监管脱节</a:t>
            </a:r>
          </a:p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  <a:latin typeface="Microsoft YaHei"/>
              </a:defRPr>
            </a:pPr>
            <a:r>
              <a:t>   手工抵消无法满足国资委穿透式监管要求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6510528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Microsoft YaHei"/>
              </a:defRPr>
            </a:pPr>
            <a:r>
              <a:t>DRP T11 · 合并报表与一键出表 · 内部存货交易未实现利润自动抵消系统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解决方案概述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CCDD"/>
                </a:solidFill>
                <a:latin typeface="Microsoft YaHei"/>
              </a:defRPr>
            </a:pPr>
            <a:r>
              <a:t>AI规则引擎 + 自动计算 + 智能校验  —  核心流程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828800"/>
            <a:ext cx="1645920" cy="1280160"/>
          </a:xfrm>
          <a:prstGeom prst="rect">
            <a:avLst/>
          </a:prstGeom>
          <a:solidFill>
            <a:srgbClr val="2C5F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011680"/>
            <a:ext cx="14630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① 上传Excel</a:t>
            </a:r>
            <a:br/>
            <a:r>
              <a:t>三表导入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77440" y="224028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1A3C6E"/>
                </a:solidFill>
                <a:latin typeface="Microsoft YaHei"/>
              </a:defRPr>
            </a:pPr>
            <a:r>
              <a:t>→</a:t>
            </a:r>
          </a:p>
        </p:txBody>
      </p:sp>
      <p:sp>
        <p:nvSpPr>
          <p:cNvPr id="8" name="Rectangle 7"/>
          <p:cNvSpPr/>
          <p:nvPr/>
        </p:nvSpPr>
        <p:spPr>
          <a:xfrm>
            <a:off x="2651760" y="1828800"/>
            <a:ext cx="1645920" cy="128016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0" y="2011680"/>
            <a:ext cx="14630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② 智能识别</a:t>
            </a:r>
            <a:br/>
            <a:r>
              <a:t>交易类型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0" y="224028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1A3C6E"/>
                </a:solidFill>
                <a:latin typeface="Microsoft YaHei"/>
              </a:defRPr>
            </a:pPr>
            <a:r>
              <a:t>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0" y="1828800"/>
            <a:ext cx="1645920" cy="1280160"/>
          </a:xfrm>
          <a:prstGeom prst="rect">
            <a:avLst/>
          </a:prstGeom>
          <a:solidFill>
            <a:srgbClr val="2C5F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63440" y="2011680"/>
            <a:ext cx="14630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③ 自动计算</a:t>
            </a:r>
            <a:br/>
            <a:r>
              <a:t>未实现利润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0" y="224028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1A3C6E"/>
                </a:solidFill>
                <a:latin typeface="Microsoft YaHei"/>
              </a:defRPr>
            </a:pPr>
            <a:r>
              <a:t>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92240" y="1828800"/>
            <a:ext cx="1645920" cy="128016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0" y="2011680"/>
            <a:ext cx="14630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④ 生成分录</a:t>
            </a:r>
            <a:br/>
            <a:r>
              <a:t>JSON规则引擎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38160" y="224028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1A3C6E"/>
                </a:solidFill>
                <a:latin typeface="Microsoft YaHei"/>
              </a:defRPr>
            </a:pPr>
            <a:r>
              <a:t>→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412480" y="1828800"/>
            <a:ext cx="1645920" cy="1280160"/>
          </a:xfrm>
          <a:prstGeom prst="rect">
            <a:avLst/>
          </a:prstGeom>
          <a:solidFill>
            <a:srgbClr val="2C5F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503920" y="2011680"/>
            <a:ext cx="14630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⑤ 试算平衡</a:t>
            </a:r>
            <a:br/>
            <a:r>
              <a:t>借贷验证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0" y="224028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1A3C6E"/>
                </a:solidFill>
                <a:latin typeface="Microsoft YaHei"/>
              </a:defRPr>
            </a:pPr>
            <a:r>
              <a:t>→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0332720" y="1828800"/>
            <a:ext cx="1645920" cy="128016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424160" y="2011680"/>
            <a:ext cx="14630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⑥ 导出报告</a:t>
            </a:r>
            <a:br/>
            <a:r>
              <a:t>Excel/PDF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3474720"/>
            <a:ext cx="53035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333333"/>
                </a:solidFill>
                <a:latin typeface="Microsoft YaHei"/>
              </a:defRPr>
            </a:pPr>
            <a:r>
              <a:t>✅ 覆盖场景</a:t>
            </a:r>
          </a:p>
          <a:p>
            <a:pPr>
              <a:spcAft>
                <a:spcPts val="600"/>
              </a:spcAft>
              <a:defRPr sz="1300">
                <a:solidFill>
                  <a:srgbClr val="333333"/>
                </a:solidFill>
                <a:latin typeface="Microsoft YaHei"/>
              </a:defRPr>
            </a:pPr>
            <a:r>
              <a:t>  • 顺流交易（母→子）：未实现利润全部归母</a:t>
            </a:r>
          </a:p>
          <a:p>
            <a:pPr>
              <a:spcAft>
                <a:spcPts val="600"/>
              </a:spcAft>
              <a:defRPr sz="1300">
                <a:solidFill>
                  <a:srgbClr val="333333"/>
                </a:solidFill>
                <a:latin typeface="Microsoft YaHei"/>
              </a:defRPr>
            </a:pPr>
            <a:r>
              <a:t>  • 逆流交易（子→母）：少数股东按持股比例分摊</a:t>
            </a:r>
          </a:p>
          <a:p>
            <a:pPr>
              <a:spcAft>
                <a:spcPts val="600"/>
              </a:spcAft>
              <a:defRPr sz="1300">
                <a:solidFill>
                  <a:srgbClr val="333333"/>
                </a:solidFill>
                <a:latin typeface="Microsoft YaHei"/>
              </a:defRPr>
            </a:pPr>
            <a:r>
              <a:t>  • 平流交易（子↔子）：按销售方少数股东比例分摊</a:t>
            </a:r>
          </a:p>
          <a:p>
            <a:pPr>
              <a:spcAft>
                <a:spcPts val="600"/>
              </a:spcAft>
              <a:defRPr sz="1300">
                <a:solidFill>
                  <a:srgbClr val="333333"/>
                </a:solidFill>
                <a:latin typeface="Microsoft YaHei"/>
              </a:defRPr>
            </a:pPr>
            <a:r>
              <a:t>  • 递延所得税自动计算（25%税率可调节）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3474720"/>
            <a:ext cx="53035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333333"/>
                </a:solidFill>
                <a:latin typeface="Microsoft YaHei"/>
              </a:defRPr>
            </a:pPr>
            <a:r>
              <a:t>⚙️ 技术特点</a:t>
            </a:r>
          </a:p>
          <a:p>
            <a:pPr>
              <a:spcAft>
                <a:spcPts val="600"/>
              </a:spcAft>
              <a:defRPr sz="1300">
                <a:solidFill>
                  <a:srgbClr val="333333"/>
                </a:solidFill>
                <a:latin typeface="Microsoft YaHei"/>
              </a:defRPr>
            </a:pPr>
            <a:r>
              <a:t>  • JSON可配置规则引擎（非硬编码）</a:t>
            </a:r>
          </a:p>
          <a:p>
            <a:pPr>
              <a:spcAft>
                <a:spcPts val="600"/>
              </a:spcAft>
              <a:defRPr sz="1300">
                <a:solidFill>
                  <a:srgbClr val="333333"/>
                </a:solidFill>
                <a:latin typeface="Microsoft YaHei"/>
              </a:defRPr>
            </a:pPr>
            <a:r>
              <a:t>  • 本地SHA256哈希链保证可追溯</a:t>
            </a:r>
          </a:p>
          <a:p>
            <a:pPr>
              <a:spcAft>
                <a:spcPts val="600"/>
              </a:spcAft>
              <a:defRPr sz="1300">
                <a:solidFill>
                  <a:srgbClr val="333333"/>
                </a:solidFill>
                <a:latin typeface="Microsoft YaHei"/>
              </a:defRPr>
            </a:pPr>
            <a:r>
              <a:t>  • Python + Streamlit，极简部署一键运行</a:t>
            </a:r>
          </a:p>
          <a:p>
            <a:pPr>
              <a:spcAft>
                <a:spcPts val="600"/>
              </a:spcAft>
              <a:defRPr sz="1300">
                <a:solidFill>
                  <a:srgbClr val="333333"/>
                </a:solidFill>
                <a:latin typeface="Microsoft YaHei"/>
              </a:defRPr>
            </a:pPr>
            <a:r>
              <a:t>  • 模块化架构：engine / utils / templates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7200" y="6510528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Microsoft YaHei"/>
              </a:defRPr>
            </a:pPr>
            <a:r>
              <a:t>DRP T11 · 合并报表与一键出表 · 内部存货交易未实现利润自动抵消系统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系统架构（V2.0 模块化）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CCDD"/>
                </a:solidFill>
                <a:latin typeface="Microsoft YaHei"/>
              </a:defRPr>
            </a:pPr>
            <a:r>
              <a:t>Python + Streamlit + SQLite + Matplotlib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10515600" cy="914400"/>
          </a:xfrm>
          <a:prstGeom prst="rect">
            <a:avLst/>
          </a:prstGeom>
          <a:solidFill>
            <a:srgbClr val="2C5F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41732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Streamlit Web 界面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828800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文件上传 | 参数配置 | 结果展示 | 仪表盘 | 导出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600200"/>
            <a:ext cx="228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Microsoft YaHei"/>
              </a:defRPr>
            </a:pPr>
            <a:r>
              <a:t>⬆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2560320"/>
            <a:ext cx="10515600" cy="91440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26060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核心计算引擎 (engine/)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017520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数据校验 → 类型识别 → 利润计算 → 分录生成 → 哈希存证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788920"/>
            <a:ext cx="228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Microsoft YaHei"/>
              </a:defRPr>
            </a:pPr>
            <a:r>
              <a:t>⬆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3749039"/>
            <a:ext cx="10515600" cy="914400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3794759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33333"/>
                </a:solidFill>
                <a:latin typeface="Microsoft YaHei"/>
              </a:defRPr>
            </a:pPr>
            <a:r>
              <a:t>规则配置 (rules.json)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4206239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Microsoft YaHei"/>
              </a:defRPr>
            </a:pPr>
            <a:r>
              <a:t>三套抵消模板（DOWN/UP/FLAT）| 安全公式求值 | 声明式规则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3977639"/>
            <a:ext cx="228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Microsoft YaHei"/>
              </a:defRPr>
            </a:pPr>
            <a:r>
              <a:t>⬆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0" y="4937760"/>
            <a:ext cx="10515600" cy="9144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98348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33333"/>
                </a:solidFill>
                <a:latin typeface="Microsoft YaHei"/>
              </a:defRPr>
            </a:pPr>
            <a:r>
              <a:t>数据层 (SQLite + Excel)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5394960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Microsoft YaHei"/>
              </a:defRPr>
            </a:pPr>
            <a:r>
              <a:t>股权配置表 | 交易明细表 | 抵消分录表 | calc_log 计算日志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5166360"/>
            <a:ext cx="228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Microsoft YaHei"/>
              </a:defRPr>
            </a:pPr>
            <a:r>
              <a:t>⬆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59436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66666"/>
                </a:solidFill>
                <a:latin typeface="Microsoft YaHei"/>
              </a:defRPr>
            </a:pPr>
            <a:r>
              <a:t>技术栈：Python 3.11+ | Streamlit | pandas | openpyxl | SQLite | Matplotlib | ReportLab | Git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" y="6510528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Microsoft YaHei"/>
              </a:defRPr>
            </a:pPr>
            <a:r>
              <a:t>DRP T11 · 合并报表与一键出表 · 内部存货交易未实现利润自动抵消系统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核心算法：未实现利润计算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CCDD"/>
                </a:solidFill>
                <a:latin typeface="Microsoft YaHei"/>
              </a:defRPr>
            </a:pPr>
            <a:r>
              <a:t>毛利率 × 未售比例 × 销售收入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463040"/>
            <a:ext cx="5029200" cy="1828800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3C6E"/>
                </a:solidFill>
                <a:latin typeface="Microsoft YaHei"/>
              </a:defRPr>
            </a:pPr>
            <a:r>
              <a:t>🔢 核心公式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011680"/>
            <a:ext cx="4572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Microsoft YaHei"/>
              </a:defRPr>
            </a:pPr>
            <a:r>
              <a:t>未实现利润 = 销售收入 × 毛利率 × 未对外出售比例</a:t>
            </a:r>
            <a:br/>
            <a:br/>
            <a:r>
              <a:t>毛利率 = (收入 - 成本) / 收入</a:t>
            </a:r>
            <a:br/>
            <a:r>
              <a:t>未售比例 = 期末结存数量 / 内部购入总数量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46304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3C6E"/>
                </a:solidFill>
                <a:latin typeface="Microsoft YaHei"/>
              </a:defRPr>
            </a:pPr>
            <a:r>
              <a:t>📊 三种计算场景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3474720"/>
            <a:ext cx="5029200" cy="914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204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3C6E"/>
                </a:solidFill>
                <a:latin typeface="Microsoft YaHei"/>
              </a:defRPr>
            </a:pPr>
            <a:r>
              <a:t>🟢 全未售（结存=购入）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91840" y="3520440"/>
            <a:ext cx="2286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66666"/>
                </a:solidFill>
                <a:latin typeface="Microsoft YaHei"/>
              </a:defRPr>
            </a:pPr>
            <a:r>
              <a:t>全额抵消</a:t>
            </a:r>
            <a:br/>
            <a:r>
              <a:t>未实现利润 = 收入 - 成本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4572000"/>
            <a:ext cx="5029200" cy="914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46177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3C6E"/>
                </a:solidFill>
                <a:latin typeface="Microsoft YaHei"/>
              </a:defRPr>
            </a:pPr>
            <a:r>
              <a:t>🟡 部分售出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91840" y="4617720"/>
            <a:ext cx="2286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66666"/>
                </a:solidFill>
                <a:latin typeface="Microsoft YaHei"/>
              </a:defRPr>
            </a:pPr>
            <a:r>
              <a:t>仅抵消未售部分</a:t>
            </a:r>
            <a:br/>
            <a:r>
              <a:t>未实现利润 = 收入×毛利率×未售%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" y="5669279"/>
            <a:ext cx="5029200" cy="914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571499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3C6E"/>
                </a:solidFill>
                <a:latin typeface="Microsoft YaHei"/>
              </a:defRPr>
            </a:pPr>
            <a:r>
              <a:t>⚪ 全售出（结存=0）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91840" y="5714999"/>
            <a:ext cx="2286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66666"/>
                </a:solidFill>
                <a:latin typeface="Microsoft YaHei"/>
              </a:defRPr>
            </a:pPr>
            <a:r>
              <a:t>已实现，无需抵消</a:t>
            </a:r>
            <a:br/>
            <a:r>
              <a:t>自动跳过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0" y="2103120"/>
            <a:ext cx="5029200" cy="365760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75120" y="22860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💡 计算示例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75120" y="2834640"/>
            <a:ext cx="45720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DDEEFF"/>
                </a:solidFill>
                <a:latin typeface="Microsoft YaHei"/>
              </a:defRPr>
            </a:pPr>
            <a:r>
              <a:t>P(母公司) → S(子公司，持股80%)</a:t>
            </a:r>
            <a:br/>
            <a:r>
              <a:t>销售A产品100件，收入100万，成本60万</a:t>
            </a:r>
            <a:br/>
            <a:r>
              <a:t>S期末对外售出30件，剩余70件</a:t>
            </a:r>
            <a:br/>
            <a:br/>
            <a:r>
              <a:t>毛利率 = (100万-60万)/100万 = 40%</a:t>
            </a:r>
            <a:br/>
            <a:r>
              <a:t>未售比例 = 70/100 = 70%</a:t>
            </a:r>
            <a:br/>
            <a:r>
              <a:t>未实现利润 = 100万 × 40% × 70%</a:t>
            </a:r>
            <a:br/>
            <a:r>
              <a:t>            = 280,000 元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6510528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Microsoft YaHei"/>
              </a:defRPr>
            </a:pPr>
            <a:r>
              <a:t>DRP T11 · 合并报表与一键出表 · 内部存货交易未实现利润自动抵消系统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核心算法：抵消分录自动生成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CCDD"/>
                </a:solidFill>
                <a:latin typeface="Microsoft YaHei"/>
              </a:defRPr>
            </a:pPr>
            <a:r>
              <a:t>JSON规则引擎驱动 — 三套模板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463040"/>
          <a:ext cx="1124712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914400"/>
                <a:gridCol w="3657600"/>
                <a:gridCol w="2743200"/>
                <a:gridCol w="2103120"/>
              </a:tblGrid>
              <a:tr h="114300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交易类型</a:t>
                      </a:r>
                    </a:p>
                  </a:txBody>
                  <a:tcPr>
                    <a:solidFill>
                      <a:srgbClr val="1A3C6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方向</a:t>
                      </a:r>
                    </a:p>
                  </a:txBody>
                  <a:tcPr>
                    <a:solidFill>
                      <a:srgbClr val="1A3C6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借：营业收入     贷：营业成本     贷：存货</a:t>
                      </a:r>
                    </a:p>
                  </a:txBody>
                  <a:tcPr>
                    <a:solidFill>
                      <a:srgbClr val="1A3C6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借：递延所得税资产     贷：所得税费用</a:t>
                      </a:r>
                    </a:p>
                  </a:txBody>
                  <a:tcPr>
                    <a:solidFill>
                      <a:srgbClr val="1A3C6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少数股东分摊</a:t>
                      </a:r>
                    </a:p>
                  </a:txBody>
                  <a:tcPr>
                    <a:solidFill>
                      <a:srgbClr val="1A3C6E"/>
                    </a:solidFill>
                  </a:tcPr>
                </a:tc>
              </a:tr>
              <a:tr h="11430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顺流交易</a:t>
                      </a:r>
                    </a:p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(母→子)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DOWN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借：营业收入</a:t>
                      </a:r>
                    </a:p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  贷：营业成本（倒挤）</a:t>
                      </a:r>
                    </a:p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  贷：存货（未实现利润）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借：递延所得税资产</a:t>
                      </a:r>
                    </a:p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  贷：所得税费用</a:t>
                      </a:r>
                    </a:p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  (未实现利润×25%)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❌ 不涉及</a:t>
                      </a:r>
                    </a:p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（利润全归母）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</a:tr>
              <a:tr h="11430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逆流交易</a:t>
                      </a:r>
                    </a:p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(子→母)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UP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同上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同上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借：少数股东权益</a:t>
                      </a:r>
                    </a:p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  贷：少数股东损益</a:t>
                      </a:r>
                    </a:p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  (利润×(1-25%)×少数%)</a:t>
                      </a:r>
                    </a:p>
                  </a:txBody>
                  <a:tcPr/>
                </a:tc>
              </a:tr>
              <a:tr h="11430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平流交易</a:t>
                      </a:r>
                    </a:p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(子↔子)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FLAT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同上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同上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同上</a:t>
                      </a:r>
                    </a:p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（按销售方少数股东%）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510528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Microsoft YaHei"/>
              </a:defRPr>
            </a:pPr>
            <a:r>
              <a:t>DRP T11 · 合并报表与一键出表 · 内部存货交易未实现利润自动抵消系统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AI规则引擎设计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CCDD"/>
                </a:solidFill>
                <a:latin typeface="Microsoft YaHei"/>
              </a:defRPr>
            </a:pPr>
            <a:r>
              <a:t>会计逻辑与程序代码解耦 — 规则即配置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645920"/>
            <a:ext cx="10515600" cy="1005840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7373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A3C6E"/>
                </a:solidFill>
                <a:latin typeface="Microsoft YaHei"/>
              </a:defRPr>
            </a:pPr>
            <a:r>
              <a:t>🧠  智能识别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91840" y="1783080"/>
            <a:ext cx="7772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基于股权关系图谱的LCA算法，自动判定每笔交易是顺流/逆流/平流，O(1)复杂度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2834640"/>
            <a:ext cx="10515600" cy="1005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9260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A3C6E"/>
                </a:solidFill>
                <a:latin typeface="Microsoft YaHei"/>
              </a:defRPr>
            </a:pPr>
            <a:r>
              <a:t>📋  规则驱动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91840" y="2971800"/>
            <a:ext cx="7772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抵消模板以JSON声明式规则存储（rules.json），系统根据规则自动推导分录，而非传统if-else堆砌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4023360"/>
            <a:ext cx="10515600" cy="1005840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41148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A3C6E"/>
                </a:solidFill>
                <a:latin typeface="Microsoft YaHei"/>
              </a:defRPr>
            </a:pPr>
            <a:r>
              <a:t>🔌  可扩展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91840" y="4160520"/>
            <a:ext cx="7772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新增固定资产内部交易抵消等场景，只需增加JSON配置条目，核心引擎代码无需修改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5212080"/>
            <a:ext cx="10515600" cy="1005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53035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A3C6E"/>
                </a:solidFill>
                <a:latin typeface="Microsoft YaHei"/>
              </a:defRPr>
            </a:pPr>
            <a:r>
              <a:t>🤖  AI可读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91840" y="5349240"/>
            <a:ext cx="7772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规则文件可被大模型读取和理解，未来可通过自然语言指令让AI自动生成新规则条目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0" y="6400800"/>
            <a:ext cx="10515600" cy="54864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6510528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Microsoft YaHei"/>
              </a:defRPr>
            </a:pPr>
            <a:r>
              <a:t>DRP T11 · 合并报表与一键出表 · 内部存货交易未实现利润自动抵消系统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可视化仪表盘与数据分析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CCDD"/>
                </a:solidFill>
                <a:latin typeface="Microsoft YaHei"/>
              </a:defRPr>
            </a:pPr>
            <a:r>
              <a:t>KPI指标卡 + 图表 + 对比表 + 试算平衡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463040"/>
            <a:ext cx="5303520" cy="1051560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3C6E"/>
                </a:solidFill>
                <a:latin typeface="Microsoft YaHei"/>
              </a:defRPr>
            </a:pPr>
            <a:r>
              <a:t>📊 KPI卡片 × 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96596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66666"/>
                </a:solidFill>
                <a:latin typeface="Microsoft YaHei"/>
              </a:defRPr>
            </a:pPr>
            <a:r>
              <a:t>交易额/未实现利润/抵消笔数/冲减存货/净利润影响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0" y="1463040"/>
            <a:ext cx="5303520" cy="1051560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0" y="155448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3C6E"/>
                </a:solidFill>
                <a:latin typeface="Microsoft YaHei"/>
              </a:defRPr>
            </a:pPr>
            <a:r>
              <a:t>🚀 快捷操作 × 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196596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66666"/>
                </a:solidFill>
                <a:latin typeface="Microsoft YaHei"/>
              </a:defRPr>
            </a:pPr>
            <a:r>
              <a:t>银行对账/关联交易/合并抵消/生成报告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2697480"/>
            <a:ext cx="5303520" cy="1051560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278892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3C6E"/>
                </a:solidFill>
                <a:latin typeface="Microsoft YaHei"/>
              </a:defRPr>
            </a:pPr>
            <a:r>
              <a:t>🕐 最近操作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20040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66666"/>
                </a:solidFill>
                <a:latin typeface="Microsoft YaHei"/>
              </a:defRPr>
            </a:pPr>
            <a:r>
              <a:t>时间线展示最近8条分录记录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0" y="2697480"/>
            <a:ext cx="5303520" cy="1051560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0" y="278892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3C6E"/>
                </a:solidFill>
                <a:latin typeface="Microsoft YaHei"/>
              </a:defRPr>
            </a:pPr>
            <a:r>
              <a:t>📈 图表 × 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0" y="320040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66666"/>
                </a:solidFill>
                <a:latin typeface="Microsoft YaHei"/>
              </a:defRPr>
            </a:pPr>
            <a:r>
              <a:t>抵消金额构成柱状图 + 交易类型分布柱状图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0" y="3931920"/>
            <a:ext cx="5303520" cy="1051560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02336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3C6E"/>
                </a:solidFill>
                <a:latin typeface="Microsoft YaHei"/>
              </a:defRPr>
            </a:pPr>
            <a:r>
              <a:t>📋 对比表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443484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66666"/>
                </a:solidFill>
                <a:latin typeface="Microsoft YaHei"/>
              </a:defRPr>
            </a:pPr>
            <a:r>
              <a:t>抵消前后：营收/成本/存货/递延所得税/净利润 五项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0" y="3931920"/>
            <a:ext cx="5303520" cy="1051560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83680" y="402336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3C6E"/>
                </a:solidFill>
                <a:latin typeface="Microsoft YaHei"/>
              </a:defRPr>
            </a:pPr>
            <a:r>
              <a:t>⚖️ 试算平衡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80" y="443484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66666"/>
                </a:solidFill>
                <a:latin typeface="Microsoft YaHei"/>
              </a:defRPr>
            </a:pPr>
            <a:r>
              <a:t>借方合计/贷方合计/差额 — 自动验证借贷平衡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31520" y="5166360"/>
            <a:ext cx="5303520" cy="1051560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4400" y="525780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3C6E"/>
                </a:solidFill>
                <a:latin typeface="Microsoft YaHei"/>
              </a:defRPr>
            </a:pPr>
            <a:r>
              <a:t>🏷️ 分录筛选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566928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66666"/>
                </a:solidFill>
                <a:latin typeface="Microsoft YaHei"/>
              </a:defRPr>
            </a:pPr>
            <a:r>
              <a:t>按交易类型（全部/顺流/逆流/平流）过滤分录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00800" y="5166360"/>
            <a:ext cx="5303520" cy="1051560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83680" y="525780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3C6E"/>
                </a:solidFill>
                <a:latin typeface="Microsoft YaHei"/>
              </a:defRPr>
            </a:pPr>
            <a:r>
              <a:t>🔍 历史追溯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0" y="566928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66666"/>
                </a:solidFill>
                <a:latin typeface="Microsoft YaHei"/>
              </a:defRPr>
            </a:pPr>
            <a:r>
              <a:t>按批次查看历次计算过程 + SHA256哈希链</a:t>
            </a:r>
          </a:p>
        </p:txBody>
      </p:sp>
      <p:sp>
        <p:nvSpPr>
          <p:cNvPr id="29" name="Rectangle 28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57200" y="6510528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Microsoft YaHei"/>
              </a:defRPr>
            </a:pPr>
            <a:r>
              <a:t>DRP T11 · 合并报表与一键出表 · 内部存货交易未实现利润自动抵消系统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试算平衡验证与手动调整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CCDD"/>
                </a:solidFill>
                <a:latin typeface="Microsoft YaHei"/>
              </a:defRPr>
            </a:pPr>
            <a:r>
              <a:t>V4.0新增功能 — 对标企业级合并报表系统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463040"/>
            <a:ext cx="5303520" cy="2286000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3C6E"/>
                </a:solidFill>
                <a:latin typeface="Microsoft YaHei"/>
              </a:defRPr>
            </a:pPr>
            <a:r>
              <a:t>⚖️ 试算平衡表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011680"/>
            <a:ext cx="49377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• 自动汇总全部抵消分录的借方与贷方合计</a:t>
            </a:r>
            <a:br/>
            <a:r>
              <a:t>• 差额 = 借方合计 - 贷方合计</a:t>
            </a:r>
            <a:br/>
            <a:r>
              <a:t>• 差额为0 → ✅ 借贷平衡（正常）</a:t>
            </a:r>
            <a:br/>
            <a:r>
              <a:t>• 差额不为0 → ⚠️ 借贷不平（需检查手动调整）</a:t>
            </a:r>
            <a:br/>
            <a:r>
              <a:t>• 对称分录模板设计，系统自动生成永远平衡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0" y="1463040"/>
            <a:ext cx="5303520" cy="2286000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0" y="155448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3C6E"/>
                </a:solidFill>
                <a:latin typeface="Microsoft YaHei"/>
              </a:defRPr>
            </a:pPr>
            <a:r>
              <a:t>✏️ 分录手动调整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2011680"/>
            <a:ext cx="49377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• 修改金额：每行分录旁有数字输入框</a:t>
            </a:r>
            <a:br/>
            <a:r>
              <a:t>• 删除分录行：点击行尾 🗑️ 按钮</a:t>
            </a:r>
            <a:br/>
            <a:r>
              <a:t>• 追加分录：输入借贷科目 + 金额 → 点击添加</a:t>
            </a:r>
            <a:br/>
            <a:r>
              <a:t>• 删除整笔：点击卡片底部删除按钮</a:t>
            </a:r>
            <a:br/>
            <a:r>
              <a:t>• 人工追加项标注 "✏️ 人工追加" 备注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40233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3C6E"/>
                </a:solidFill>
                <a:latin typeface="Microsoft YaHei"/>
              </a:defRPr>
            </a:pPr>
            <a:r>
              <a:t>📜 历史记录追溯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48056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• 所有计算批次自动存入SQLite calc_log表</a:t>
            </a:r>
            <a:br/>
            <a:r>
              <a:t>• 按批次分组展示：批次ID / 分录笔数 / 计算时间</a:t>
            </a:r>
            <a:br/>
            <a:r>
              <a:t>• 展开查看每笔分录的完整计算过程（卖方/买方/毛利率/未售比例/未实现利润）</a:t>
            </a:r>
            <a:br/>
            <a:r>
              <a:t>• 每笔分录附带SHA256哈希值，形成防篡改哈希链 → ELIM-0001 → ELIM-0002 → ELIM-0003 → ...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6510528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Microsoft YaHei"/>
              </a:defRPr>
            </a:pPr>
            <a:r>
              <a:t>DRP T11 · 合并报表与一键出表 · 内部存货交易未实现利润自动抵消系统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可追溯性设计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CCDD"/>
                </a:solidFill>
                <a:latin typeface="Microsoft YaHei"/>
              </a:defRPr>
            </a:pPr>
            <a:r>
              <a:t>计算日志 + SHA256哈希链 — 为穿透监管提供技术基础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A3C6E"/>
                </a:solidFill>
                <a:latin typeface="Microsoft YaHei"/>
              </a:defRPr>
            </a:pPr>
            <a:r>
              <a:t>📝 JSON计算日志（每笔分录同步输出）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2011680"/>
            <a:ext cx="5303520" cy="36576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103120"/>
            <a:ext cx="50292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Microsoft YaHei"/>
              </a:defRPr>
            </a:pPr>
            <a:r>
              <a:t>{</a:t>
            </a:r>
            <a:br/>
            <a:r>
              <a:t>  "elim_no": "ELIM-202605-0003",</a:t>
            </a:r>
            <a:br/>
            <a:r>
              <a:t>  "input": { 卖方, 买方, 收入, 成本, 数量, 结存 },</a:t>
            </a:r>
            <a:br/>
            <a:r>
              <a:t>  "classification": { 交易类型, 判定依据 },</a:t>
            </a:r>
            <a:br/>
            <a:r>
              <a:t>  "calculation": {</a:t>
            </a:r>
            <a:br/>
            <a:r>
              <a:t>    毛利率: 0.40,</a:t>
            </a:r>
            <a:br/>
            <a:r>
              <a:t>    未售比例: 0.70,</a:t>
            </a:r>
            <a:br/>
            <a:r>
              <a:t>    未实现利润: 280000</a:t>
            </a:r>
            <a:br/>
            <a:r>
              <a:t>  },</a:t>
            </a:r>
            <a:br/>
            <a:r>
              <a:t>  "entries": [</a:t>
            </a:r>
            <a:br/>
            <a:r>
              <a:t>    { D, 营业收入, 700000 },</a:t>
            </a:r>
            <a:br/>
            <a:r>
              <a:t>    { C, 营业成本, 420000 },</a:t>
            </a:r>
            <a:br/>
            <a:r>
              <a:t>    { C, 存货, 280000 },</a:t>
            </a:r>
            <a:br/>
            <a:r>
              <a:t>    ...</a:t>
            </a:r>
            <a:br/>
            <a:r>
              <a:t>  ],</a:t>
            </a:r>
            <a:br/>
            <a:r>
              <a:t>  "hash": "sha256:a3f8b2..."</a:t>
            </a:r>
            <a:br/>
            <a:r>
              <a:t>}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46304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A3C6E"/>
                </a:solidFill>
                <a:latin typeface="Microsoft YaHei"/>
              </a:defRPr>
            </a:pPr>
            <a:r>
              <a:t>🔗 哈希链机制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2011680"/>
            <a:ext cx="53035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  <a:latin typeface="Microsoft YaHei"/>
              </a:defRPr>
            </a:pPr>
            <a:r>
              <a:t>• 每笔分录的哈希 = SHA256(上一笔哈希 + 本笔数据)</a:t>
            </a:r>
          </a:p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  <a:latin typeface="Microsoft YaHei"/>
              </a:defRPr>
            </a:pPr>
            <a:r>
              <a:t>• 形成链式结构：ELIM-0001 → ELIM-0002 → ELIM-0003 → ...</a:t>
            </a:r>
          </a:p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  <a:latin typeface="Microsoft YaHei"/>
              </a:defRPr>
            </a:pPr>
            <a:r>
              <a:t>• 类似区块链的简化版，任何篡改都会导致链条断裂</a:t>
            </a:r>
          </a:p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  <a:latin typeface="Microsoft YaHei"/>
              </a:defRPr>
            </a:pPr>
          </a:p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  <a:latin typeface="Microsoft YaHei"/>
              </a:defRPr>
            </a:pPr>
            <a:r>
              <a:t>🔮 未来扩展</a:t>
            </a:r>
          </a:p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  <a:latin typeface="Microsoft YaHei"/>
              </a:defRPr>
            </a:pPr>
            <a:r>
              <a:t>• hash字段预留了区块链存证接口</a:t>
            </a:r>
          </a:p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  <a:latin typeface="Microsoft YaHei"/>
              </a:defRPr>
            </a:pPr>
            <a:r>
              <a:t>• 对接T33区块链服务时：</a:t>
            </a:r>
          </a:p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  <a:latin typeface="Microsoft YaHei"/>
              </a:defRPr>
            </a:pPr>
            <a:r>
              <a:t>  直接将哈希值通过RESTful API上链</a:t>
            </a:r>
          </a:p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  <a:latin typeface="Microsoft YaHei"/>
              </a:defRPr>
            </a:pPr>
            <a:r>
              <a:t>  保存链上返回的tx_id</a:t>
            </a:r>
          </a:p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  <a:latin typeface="Microsoft YaHei"/>
              </a:defRPr>
            </a:pPr>
            <a:r>
              <a:t>  核心计算逻辑无需任何修改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6510528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Microsoft YaHei"/>
              </a:defRPr>
            </a:pPr>
            <a:r>
              <a:t>DRP T11 · 合并报表与一键出表 · 内部存货交易未实现利润自动抵消系统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完整计算示例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CCDD"/>
                </a:solidFill>
                <a:latin typeface="Microsoft YaHei"/>
              </a:defRPr>
            </a:pPr>
            <a:r>
              <a:t>顺流交易 — 从原始数据到抵消分录的全过程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463040"/>
            <a:ext cx="3474720" cy="1828800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A3C6E"/>
                </a:solidFill>
                <a:latin typeface="Microsoft YaHei"/>
              </a:defRPr>
            </a:pPr>
            <a:r>
              <a:t>📋 输入数据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31089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Microsoft YaHei"/>
              </a:defRPr>
            </a:pPr>
            <a:r>
              <a:t>P(母公司) → S(子公司,80%)</a:t>
            </a:r>
            <a:br/>
            <a:r>
              <a:t>销售A产品100件</a:t>
            </a:r>
            <a:br/>
            <a:r>
              <a:t>收入：1,000,000 元</a:t>
            </a:r>
            <a:br/>
            <a:r>
              <a:t>成本：600,000 元</a:t>
            </a:r>
            <a:br/>
            <a:r>
              <a:t>S期末库存：70件</a:t>
            </a:r>
            <a:br/>
            <a:r>
              <a:t>所得税率：25%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14630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A3C6E"/>
                </a:solidFill>
                <a:latin typeface="Microsoft YaHei"/>
              </a:defRPr>
            </a:pPr>
            <a:r>
              <a:t>🔢 计算过程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1920240"/>
            <a:ext cx="32004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Microsoft YaHei"/>
              </a:defRPr>
            </a:pPr>
            <a:r>
              <a:t>类型识别：P→S = 顺流</a:t>
            </a:r>
            <a:br/>
            <a:r>
              <a:t>毛利率 = (100万-60万)/100万</a:t>
            </a:r>
            <a:br/>
            <a:r>
              <a:t>       = 40%</a:t>
            </a:r>
            <a:br/>
            <a:r>
              <a:t>未售比 = 70/100 = 70%</a:t>
            </a:r>
            <a:br/>
            <a:r>
              <a:t>利润 = 100万×40%×70%</a:t>
            </a:r>
            <a:br/>
            <a:r>
              <a:t>     = 280,000 元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46720" y="1463040"/>
            <a:ext cx="3657600" cy="182880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0" y="155448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📝 抵消分录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0" y="1920240"/>
            <a:ext cx="32918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DDEE"/>
                </a:solidFill>
                <a:latin typeface="Microsoft YaHei"/>
              </a:defRPr>
            </a:pPr>
            <a:r>
              <a:t>借：营业收入   700,000</a:t>
            </a:r>
            <a:br/>
            <a:r>
              <a:t>  贷：营业成本   420,000</a:t>
            </a:r>
            <a:br/>
            <a:r>
              <a:t>  贷：存货       280,000</a:t>
            </a:r>
            <a:br/>
            <a:br/>
            <a:r>
              <a:t>借：递延所得税资产  70,000</a:t>
            </a:r>
            <a:br/>
            <a:r>
              <a:t>  贷：所得税费用     70,000</a:t>
            </a:r>
            <a:br/>
            <a:br/>
            <a:r>
              <a:t>净利润影响：-210,000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6576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A3C6E"/>
                </a:solidFill>
                <a:latin typeface="Microsoft YaHei"/>
              </a:defRPr>
            </a:pPr>
            <a:r>
              <a:t>📱 系统实际输出界面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4114800"/>
            <a:ext cx="10972800" cy="21031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4206240"/>
            <a:ext cx="10515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Microsoft YaHei"/>
              </a:defRPr>
            </a:pPr>
            <a:r>
              <a:t>━━━━━━━━━━━━━━━━━━━━━━━━━━━━━━━━━━━━━━━━━━━━━━━━</a:t>
            </a:r>
            <a:br/>
            <a:r>
              <a:t>ELIM-202605-0001 | 顺流交易 P001→S001 | A产品 | 未实现利润：280,000 元</a:t>
            </a:r>
            <a:br/>
            <a:r>
              <a:t>毛利率=40.00% | 未售=70.00% | 收入=1,000,000 | 成本=600,000</a:t>
            </a:r>
            <a:br/>
            <a:r>
              <a:t>━━━━━━━━━━━━━━━━━━━━━━━━━━━━━━━━━━━━━━━━━━━━━━━━</a:t>
            </a:r>
            <a:br/>
            <a:r>
              <a:t>借：营业收入                    700,000</a:t>
            </a:r>
            <a:br/>
            <a:r>
              <a:t>  贷：营业成本                  420,000</a:t>
            </a:r>
            <a:br/>
            <a:r>
              <a:t>  贷：存货                      280,000</a:t>
            </a:r>
            <a:br/>
            <a:r>
              <a:t>借：递延所得税资产               70,000</a:t>
            </a:r>
            <a:br/>
            <a:r>
              <a:t>  贷：所得税费用                 70,000</a:t>
            </a:r>
            <a:br/>
            <a:r>
              <a:t>━━━━━━━━━━━━━━━━━━━━━━━━━━━━━━━━━━━━━━━━━━━━━━━━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6510528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Microsoft YaHei"/>
              </a:defRPr>
            </a:pPr>
            <a:r>
              <a:t>DRP T11 · 合并报表与一键出表 · 内部存货交易未实现利润自动抵消系统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与DRP平台"集团合并报表"功能对比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CCDD"/>
                </a:solidFill>
                <a:latin typeface="Microsoft YaHei"/>
              </a:defRPr>
            </a:pPr>
            <a:r>
              <a:t>对标教师T11系统，取长补短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463040"/>
          <a:ext cx="1124712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3200400"/>
                <a:gridCol w="3657600"/>
                <a:gridCol w="2377440"/>
              </a:tblGrid>
              <a:tr h="41148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对比维度</a:t>
                      </a:r>
                    </a:p>
                  </a:txBody>
                  <a:tcPr>
                    <a:solidFill>
                      <a:srgbClr val="1A3C6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教师DRP平台 T11</a:t>
                      </a:r>
                    </a:p>
                  </a:txBody>
                  <a:tcPr>
                    <a:solidFill>
                      <a:srgbClr val="1A3C6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本系统 V4.0</a:t>
                      </a:r>
                    </a:p>
                  </a:txBody>
                  <a:tcPr>
                    <a:solidFill>
                      <a:srgbClr val="1A3C6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评价</a:t>
                      </a:r>
                    </a:p>
                  </a:txBody>
                  <a:tcPr>
                    <a:solidFill>
                      <a:srgbClr val="1A3C6E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未实现利润抵消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空白表单，需手动填写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✅ 自动计算+JSON规则引擎驱动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⭐ 本系统更深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投资成本抵消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✅ 有选项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❌ 不在此范围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不同子模块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内部往来抵消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✅ 有选项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❌ 不在此范围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不同子模块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试算平衡表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✅ 有展示区域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✅ 自动汇总+借贷差额验证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⭐ 本系统更强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分录手动调整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✅ 新增/编辑/删除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✅ 修改金额/删行/追加入工分录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⚖️ 持平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历史记录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✅ 处理历史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✅ 批次分组+完整计算过程+哈希追溯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⭐ 本系统更强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仪表盘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✅ 4个KPI+对账趋势图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✅ 5个KPI+2图表+对比表+时间线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⚖️ 各有所长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筛选过滤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✅ 按类型/状态/期间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✅ 按交易类型标签过滤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⚖️ 持平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接口管理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✅ 银企/ERP/金蝶/浪潮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❌ 原型阶段预留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V3.0扩展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510528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Microsoft YaHei"/>
              </a:defRPr>
            </a:pPr>
            <a:r>
              <a:t>DRP T11 · 合并报表与一键出表 · 内部存货交易未实现利润自动抵消系统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V2.0 交付范围与未来扩展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CCDD"/>
                </a:solidFill>
                <a:latin typeface="Microsoft YaHei"/>
              </a:defRPr>
            </a:pPr>
            <a:r>
              <a:t>缩实现，保专业 — 文档像大系统，实现像精巧Demo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ECC71"/>
                </a:solidFill>
                <a:latin typeface="Microsoft YaHei"/>
              </a:defRPr>
            </a:pPr>
            <a:r>
              <a:t>✅ V2.0 已实现（本课程交付）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01168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Microsoft YaHei"/>
              </a:defRPr>
            </a:pPr>
            <a:r>
              <a:t>  ✅ Excel三表上传 + 手动录入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201168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Microsoft YaHei"/>
              </a:defRPr>
            </a:pPr>
            <a:r>
              <a:t>  ✅ 数据校验 + 4种异常检测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42316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Microsoft YaHei"/>
              </a:defRPr>
            </a:pPr>
            <a:r>
              <a:t>  ✅ 顺流/逆流/平流自动识别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242316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Microsoft YaHei"/>
              </a:defRPr>
            </a:pPr>
            <a:r>
              <a:t>  ✅ 未实现利润自动计算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83464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Microsoft YaHei"/>
              </a:defRPr>
            </a:pPr>
            <a:r>
              <a:t>  ✅ 抵消分录自动生成（JSON规则引擎）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83464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Microsoft YaHei"/>
              </a:defRPr>
            </a:pPr>
            <a:r>
              <a:t>  ✅ 递延所得税+少数股东分摊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24612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Microsoft YaHei"/>
              </a:defRPr>
            </a:pPr>
            <a:r>
              <a:t>  ✅ 试算平衡验证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324612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Microsoft YaHei"/>
              </a:defRPr>
            </a:pPr>
            <a:r>
              <a:t>  ✅ 分录筛选与手动调整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365760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Microsoft YaHei"/>
              </a:defRPr>
            </a:pPr>
            <a:r>
              <a:t>  ✅ 可视化仪表盘（KPI+图表+对比表）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365760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Microsoft YaHei"/>
              </a:defRPr>
            </a:pPr>
            <a:r>
              <a:t>  ✅ 历史记录+哈希追溯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406908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Microsoft YaHei"/>
              </a:defRPr>
            </a:pPr>
            <a:r>
              <a:t>  ✅ Excel/PDF导出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406908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Microsoft YaHei"/>
              </a:defRPr>
            </a:pPr>
            <a:r>
              <a:t>  ✅ 一键加载示例数据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475488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39C12"/>
                </a:solidFill>
                <a:latin typeface="Microsoft YaHei"/>
              </a:defRPr>
            </a:pPr>
            <a:r>
              <a:t>🔮 V3.0+ 未来扩展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521208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66666"/>
                </a:solidFill>
                <a:latin typeface="Microsoft YaHei"/>
              </a:defRPr>
            </a:pPr>
            <a:r>
              <a:t>  ⬜ 加权平均法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521208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66666"/>
                </a:solidFill>
                <a:latin typeface="Microsoft YaHei"/>
              </a:defRPr>
            </a:pPr>
            <a:r>
              <a:t>  ⬜ 存货跌价准备抵消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12480" y="521208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66666"/>
                </a:solidFill>
                <a:latin typeface="Microsoft YaHei"/>
              </a:defRPr>
            </a:pPr>
            <a:r>
              <a:t>  ⬜ 连续编报期初滚调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562356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66666"/>
                </a:solidFill>
                <a:latin typeface="Microsoft YaHei"/>
              </a:defRPr>
            </a:pPr>
            <a:r>
              <a:t>  ⬜ Java Spring Boot微服务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0" y="562356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66666"/>
                </a:solidFill>
                <a:latin typeface="Microsoft YaHei"/>
              </a:defRPr>
            </a:pPr>
            <a:r>
              <a:t>  ⬜ Vue 3前端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12480" y="562356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66666"/>
                </a:solidFill>
                <a:latin typeface="Microsoft YaHei"/>
              </a:defRPr>
            </a:pPr>
            <a:r>
              <a:t>  ⬜ 国产数据库（达梦/金仓）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603504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66666"/>
                </a:solidFill>
                <a:latin typeface="Microsoft YaHei"/>
              </a:defRPr>
            </a:pPr>
            <a:r>
              <a:t>  ⬜ 区块链存证（T33）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0" y="603504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66666"/>
                </a:solidFill>
                <a:latin typeface="Microsoft YaHei"/>
              </a:defRPr>
            </a:pPr>
            <a:r>
              <a:t>  ⬜ RESTful API对接T10/T05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12480" y="603504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66666"/>
                </a:solidFill>
                <a:latin typeface="Microsoft YaHei"/>
              </a:defRPr>
            </a:pPr>
            <a:r>
              <a:t>  ⬜ 多会计准则切换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583680" y="1463040"/>
            <a:ext cx="5029200" cy="457200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766560" y="16459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📦 交付物清单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766560" y="2194560"/>
            <a:ext cx="45720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DDEE"/>
                </a:solidFill>
                <a:latin typeface="Microsoft YaHei"/>
              </a:defRPr>
            </a:pPr>
            <a:r>
              <a:t>📘 系统需求说明书 V4.0 (.docx)</a:t>
            </a:r>
            <a:br/>
            <a:r>
              <a:t>  GB/T 9385规范，含用例/数据模型/接口设计</a:t>
            </a:r>
            <a:br/>
            <a:br/>
            <a:r>
              <a:t>📗 用户操作手册 V2.0 (.docx)</a:t>
            </a:r>
            <a:br/>
            <a:r>
              <a:t>  分步详解，含常见问题排查</a:t>
            </a:r>
            <a:br/>
            <a:br/>
            <a:r>
              <a:t>📊 介绍PPT V2 (.pptx)</a:t>
            </a:r>
            <a:br/>
            <a:r>
              <a:t>  14页深蓝专业主题</a:t>
            </a:r>
            <a:br/>
            <a:br/>
            <a:r>
              <a:t>💻 系统源代码</a:t>
            </a:r>
            <a:br/>
            <a:r>
              <a:t>  635行 Python，模块化架构</a:t>
            </a:r>
            <a:br/>
            <a:r>
              <a:t>  app.py + engine/ + utils/ + rules.json</a:t>
            </a:r>
            <a:br/>
            <a:br/>
            <a:r>
              <a:t>📋 Excel模板 × 3 + 演示数据</a:t>
            </a:r>
          </a:p>
        </p:txBody>
      </p:sp>
      <p:sp>
        <p:nvSpPr>
          <p:cNvPr id="31" name="Rectangle 30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57200" y="6510528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Microsoft YaHei"/>
              </a:defRPr>
            </a:pPr>
            <a:r>
              <a:t>DRP T11 · 合并报表与一键出表 · 内部存货交易未实现利润自动抵消系统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560320"/>
            <a:ext cx="12191695" cy="54864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731520"/>
            <a:ext cx="9601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Microsoft YaHei"/>
              </a:defRPr>
            </a:pPr>
            <a:r>
              <a:t>总结与展望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926080"/>
            <a:ext cx="9601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CCDDEE"/>
                </a:solidFill>
                <a:latin typeface="Microsoft YaHei"/>
              </a:defRPr>
            </a:pPr>
            <a:r>
              <a:t>🔹 解决了一个真实的会计难题：合并报表内部存货交易抵消</a:t>
            </a:r>
            <a:br/>
            <a:r>
              <a:t>🔹 用AI规则引擎替代硬编码，体现财务数智化设计思想</a:t>
            </a:r>
            <a:br/>
            <a:r>
              <a:t>🔹 完整覆盖顺流/逆流/平流 + 递延所得税 + 少数股东</a:t>
            </a:r>
            <a:br/>
            <a:r>
              <a:t>🔹 可追溯计算日志 + 哈希链，为穿透监管提供技术基础</a:t>
            </a:r>
            <a:br/>
            <a:r>
              <a:t>🔹 模块化架构，核心计算逻辑可平滑迁移至企业级Java平台</a:t>
            </a:r>
            <a:br/>
            <a:br/>
            <a:r>
              <a:t>课程收获：通过AI协作完成从需求分析、系统设计到原型实现的完整流程</a:t>
            </a:r>
            <a:br/>
            <a:r>
              <a:t>体现了MPAcc培养目标：既懂会计又懂技术的复合型人才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5029200"/>
            <a:ext cx="9601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Microsoft YaHei"/>
              </a:defRPr>
            </a:pPr>
            <a:r>
              <a:t>谢谢！欢迎批评指正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576072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8899AA"/>
                </a:solidFill>
                <a:latin typeface="Microsoft YaHei"/>
              </a:defRPr>
            </a:pPr>
            <a:r>
              <a:t>中国社会科学院大学 · 2025级MPAcc二班 · 尚浩然 · 指导老师：张金昌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